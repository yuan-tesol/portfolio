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83756"/>
                </a:solidFill>
                <a:latin typeface="Aptos"/>
              </a:rPr>
              <a:t>Energy Transfer in Collisions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6E78"/>
                </a:solidFill>
                <a:latin typeface="Aptos"/>
              </a:rPr>
              <a:t>4th Grade • Language Supports for explaining with evidence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11155680" cy="960120"/>
          </a:xfrm>
          <a:prstGeom prst="roundRect">
            <a:avLst/>
          </a:prstGeom>
          <a:solidFill>
            <a:srgbClr val="E2F5F4"/>
          </a:solidFill>
          <a:ln>
            <a:solidFill>
              <a:srgbClr val="E2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35608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A8991"/>
                </a:solidFill>
                <a:latin typeface="Aptos"/>
              </a:rPr>
              <a:t>CONTENT GOAL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1720" y="1353312"/>
            <a:ext cx="8869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32B34"/>
                </a:solidFill>
                <a:latin typeface="Aptos"/>
              </a:rPr>
              <a:t>Design a fair marble investigation, change one variable, complete 3+ trials, record observations, analyze evidence, and explain what was learned.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1460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83756"/>
                </a:solidFill>
                <a:latin typeface="Aptos"/>
              </a:rPr>
              <a:t>Our science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62072"/>
            <a:ext cx="5394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232B34"/>
                </a:solidFill>
                <a:latin typeface="Aptos"/>
              </a:rPr>
              <a:t>What happens when objects collide?</a:t>
            </a:r>
          </a:p>
        </p:txBody>
      </p:sp>
      <p:sp>
        <p:nvSpPr>
          <p:cNvPr id="9" name="Oval 8"/>
          <p:cNvSpPr/>
          <p:nvPr/>
        </p:nvSpPr>
        <p:spPr>
          <a:xfrm>
            <a:off x="7452360" y="2761488"/>
            <a:ext cx="640080" cy="640080"/>
          </a:xfrm>
          <a:prstGeom prst="ellipse">
            <a:avLst/>
          </a:prstGeom>
          <a:solidFill>
            <a:srgbClr val="1A8991"/>
          </a:solidFill>
          <a:ln>
            <a:solidFill>
              <a:srgbClr val="1A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46920" y="2761488"/>
            <a:ext cx="640080" cy="640080"/>
          </a:xfrm>
          <a:prstGeom prst="ellipse">
            <a:avLst/>
          </a:prstGeom>
          <a:solidFill>
            <a:srgbClr val="F6BE3F"/>
          </a:solidFill>
          <a:ln>
            <a:solidFill>
              <a:srgbClr val="F6BE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79" y="2670048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183756"/>
                </a:solidFill>
                <a:latin typeface="Aptos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42832" y="2670048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183756"/>
                </a:solidFill>
                <a:latin typeface="Aptos"/>
              </a:rPr>
              <a:t>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3529584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A8991"/>
                </a:solidFill>
                <a:latin typeface="Aptos"/>
              </a:rPr>
              <a:t>COLLISION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251960"/>
            <a:ext cx="10881360" cy="1325880"/>
          </a:xfrm>
          <a:prstGeom prst="roundRect">
            <a:avLst/>
          </a:prstGeom>
          <a:solidFill>
            <a:srgbClr val="E8F1FA"/>
          </a:solidFill>
          <a:ln>
            <a:solidFill>
              <a:srgbClr val="E8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480560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83756"/>
                </a:solidFill>
                <a:latin typeface="Aptos"/>
              </a:rPr>
              <a:t>LANGUAGE GOAL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4370832"/>
            <a:ext cx="80467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232B34"/>
                </a:solidFill>
                <a:latin typeface="Aptos"/>
              </a:rPr>
              <a:t>I can make a claim, use evidence from my observations, and explain how the evidence supports my claim.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852160"/>
            <a:ext cx="9966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646E78"/>
                </a:solidFill>
                <a:latin typeface="Aptos"/>
              </a:rPr>
              <a:t>Think → Sketch / home-language planning if helpful → Partner rehearse → Explain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10528"/>
            <a:ext cx="5669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6E78"/>
                </a:solidFill>
                <a:latin typeface="Aptos"/>
              </a:rPr>
              <a:t/>
            </a:r>
            <a:r>
              <a:rPr sz="800">
                <a:solidFill>
                  <a:srgbClr val="646E78"/>
                </a:solidFill>
                <a:latin typeface="Aptos"/>
              </a:rPr>
              <a:t>ChatGPT-generated draft • Reviewed and adapted by the teacher before classroom use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84280" y="6473952"/>
            <a:ext cx="274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46E78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83756"/>
                </a:solidFill>
                <a:latin typeface="Aptos"/>
              </a:rPr>
              <a:t>Vocabulary for Our Investigation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6E78"/>
                </a:solidFill>
                <a:latin typeface="Aptos"/>
              </a:rPr>
              <a:t>Use the words while you investigate and explain — not just to memorize them.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3493008" cy="2084831"/>
          </a:xfrm>
          <a:prstGeom prst="roundRect">
            <a:avLst/>
          </a:prstGeom>
          <a:solidFill>
            <a:srgbClr val="FFFFFF"/>
          </a:solidFill>
          <a:ln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7512" y="137160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A8991"/>
                </a:solidFill>
                <a:latin typeface="Aptos"/>
              </a:rPr>
              <a:t>COLLISION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1709928"/>
            <a:ext cx="3108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32B34"/>
                </a:solidFill>
                <a:latin typeface="Aptos"/>
              </a:rPr>
              <a:t>when objects hit one another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2194560"/>
            <a:ext cx="3063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A8B5C"/>
                </a:solidFill>
                <a:latin typeface="Aptos"/>
              </a:rPr>
              <a:t>✓ Two marbles hit.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532888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6E78"/>
                </a:solidFill>
                <a:latin typeface="Aptos"/>
              </a:rPr>
              <a:t>Not: Marbles sit apart.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880360"/>
            <a:ext cx="3063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183756"/>
                </a:solidFill>
                <a:latin typeface="Aptos"/>
              </a:rPr>
              <a:t>Sketch: Draw two circles touching + impact lines.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234440"/>
            <a:ext cx="3493008" cy="2084831"/>
          </a:xfrm>
          <a:prstGeom prst="roundRect">
            <a:avLst/>
          </a:prstGeom>
          <a:solidFill>
            <a:srgbClr val="FFFFFF"/>
          </a:solidFill>
          <a:ln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9703" y="137160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A8991"/>
                </a:solidFill>
                <a:latin typeface="Aptos"/>
              </a:rPr>
              <a:t>VARIABLE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9703" y="1709928"/>
            <a:ext cx="3108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32B34"/>
                </a:solidFill>
                <a:latin typeface="Aptos"/>
              </a:rPr>
              <a:t>one thing we change or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9703" y="2194560"/>
            <a:ext cx="3063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A8B5C"/>
                </a:solidFill>
                <a:latin typeface="Aptos"/>
              </a:rPr>
              <a:t>✓ Change track height.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9703" y="2532888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6E78"/>
                </a:solidFill>
                <a:latin typeface="Aptos"/>
              </a:rPr>
              <a:t>Not: Change height AND marble size.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9703" y="2880360"/>
            <a:ext cx="3063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183756"/>
                </a:solidFill>
                <a:latin typeface="Aptos"/>
              </a:rPr>
              <a:t>Sketch: Circle the ONE thing that changes.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47304" y="1234440"/>
            <a:ext cx="3493008" cy="2084831"/>
          </a:xfrm>
          <a:prstGeom prst="roundRect">
            <a:avLst/>
          </a:prstGeom>
          <a:solidFill>
            <a:srgbClr val="FFFFFF"/>
          </a:solidFill>
          <a:ln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11896" y="137160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A8991"/>
                </a:solidFill>
                <a:latin typeface="Aptos"/>
              </a:rPr>
              <a:t>TRIAL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1896" y="1709928"/>
            <a:ext cx="3108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32B34"/>
                </a:solidFill>
                <a:latin typeface="Aptos"/>
              </a:rPr>
              <a:t>one time you do the 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1896" y="2194560"/>
            <a:ext cx="3063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A8B5C"/>
                </a:solidFill>
                <a:latin typeface="Aptos"/>
              </a:rPr>
              <a:t>✓ Trial 1, Trial 2, Trial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1896" y="2532888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6E78"/>
                </a:solidFill>
                <a:latin typeface="Aptos"/>
              </a:rPr>
              <a:t>Not: Only talking about what might happen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1896" y="2880360"/>
            <a:ext cx="3063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183756"/>
                </a:solidFill>
                <a:latin typeface="Aptos"/>
              </a:rPr>
              <a:t>Sketch: Draw 1 → 2 → 3 test boxes.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639312"/>
            <a:ext cx="3493008" cy="2084831"/>
          </a:xfrm>
          <a:prstGeom prst="roundRect">
            <a:avLst/>
          </a:prstGeom>
          <a:solidFill>
            <a:srgbClr val="FFFFFF"/>
          </a:solidFill>
          <a:ln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" y="377647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A8991"/>
                </a:solidFill>
                <a:latin typeface="Aptos"/>
              </a:rPr>
              <a:t>OBSERVATION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" y="4114800"/>
            <a:ext cx="3108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32B34"/>
                </a:solidFill>
                <a:latin typeface="Aptos"/>
              </a:rPr>
              <a:t>what you actually see or hear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" y="4599432"/>
            <a:ext cx="3063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A8B5C"/>
                </a:solidFill>
                <a:latin typeface="Aptos"/>
              </a:rPr>
              <a:t>✓ “The still marble moved.”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" y="4937760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6E78"/>
                </a:solidFill>
                <a:latin typeface="Aptos"/>
              </a:rPr>
              <a:t>Not: “I think it will move.”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" y="5285232"/>
            <a:ext cx="3063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183756"/>
                </a:solidFill>
                <a:latin typeface="Aptos"/>
              </a:rPr>
              <a:t>Sketch: Eye + ear beside a notes box.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25112" y="3639312"/>
            <a:ext cx="3493008" cy="2084831"/>
          </a:xfrm>
          <a:prstGeom prst="roundRect">
            <a:avLst/>
          </a:prstGeom>
          <a:solidFill>
            <a:srgbClr val="FFFFFF"/>
          </a:solidFill>
          <a:ln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89703" y="377647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A8991"/>
                </a:solidFill>
                <a:latin typeface="Aptos"/>
              </a:rPr>
              <a:t>TREND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9703" y="4114800"/>
            <a:ext cx="3108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32B34"/>
                </a:solidFill>
                <a:latin typeface="Aptos"/>
              </a:rPr>
              <a:t>a pattern found across data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9703" y="4599432"/>
            <a:ext cx="3063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A8B5C"/>
                </a:solidFill>
                <a:latin typeface="Aptos"/>
              </a:rPr>
              <a:t>✓ A similar motion change happens in 3 trials.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9703" y="4937760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6E78"/>
                </a:solidFill>
                <a:latin typeface="Aptos"/>
              </a:rPr>
              <a:t>Not: One unusual result in one trial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9703" y="5285232"/>
            <a:ext cx="3063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183756"/>
                </a:solidFill>
                <a:latin typeface="Aptos"/>
              </a:rPr>
              <a:t>Sketch: Repeat arrows across 3 rows.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47304" y="3639312"/>
            <a:ext cx="3493008" cy="2084831"/>
          </a:xfrm>
          <a:prstGeom prst="roundRect">
            <a:avLst/>
          </a:prstGeom>
          <a:solidFill>
            <a:srgbClr val="FFFFFF"/>
          </a:solidFill>
          <a:ln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11896" y="377647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A8991"/>
                </a:solidFill>
                <a:latin typeface="Aptos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11896" y="4114800"/>
            <a:ext cx="3108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32B34"/>
                </a:solidFill>
                <a:latin typeface="Aptos"/>
              </a:rPr>
              <a:t>observations/data used to support a claim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11896" y="4599432"/>
            <a:ext cx="3063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A8B5C"/>
                </a:solidFill>
                <a:latin typeface="Aptos"/>
              </a:rPr>
              <a:t>✓ Use results from your trials.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11896" y="4937760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6E78"/>
                </a:solidFill>
                <a:latin typeface="Aptos"/>
              </a:rPr>
              <a:t>Not: A guess with no result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11896" y="5285232"/>
            <a:ext cx="3063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183756"/>
                </a:solidFill>
                <a:latin typeface="Aptos"/>
              </a:rPr>
              <a:t>Sketch: Magnifying glass over a data table.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510528"/>
            <a:ext cx="5669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6E78"/>
                </a:solidFill>
                <a:latin typeface="Aptos"/>
              </a:rPr>
              <a:t/>
            </a:r>
            <a:r>
              <a:rPr sz="800">
                <a:solidFill>
                  <a:srgbClr val="646E78"/>
                </a:solidFill>
                <a:latin typeface="Aptos"/>
              </a:rPr>
              <a:t>ChatGPT-generated draft • Reviewed and adapted by the teacher before classroom use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384280" y="6473952"/>
            <a:ext cx="274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46E78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83756"/>
                </a:solidFill>
                <a:latin typeface="Aptos"/>
              </a:rPr>
              <a:t>Student Talk Mat: Explain With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6E78"/>
                </a:solidFill>
                <a:latin typeface="Aptos"/>
              </a:rPr>
              <a:t>Rehearse with a partner before you write or record your final explanation.</a:t>
            </a:r>
          </a:p>
        </p:txBody>
      </p:sp>
      <p:sp>
        <p:nvSpPr>
          <p:cNvPr id="4" name="Oval 3"/>
          <p:cNvSpPr/>
          <p:nvPr/>
        </p:nvSpPr>
        <p:spPr>
          <a:xfrm>
            <a:off x="594360" y="1344168"/>
            <a:ext cx="475488" cy="475488"/>
          </a:xfrm>
          <a:prstGeom prst="ellipse">
            <a:avLst/>
          </a:prstGeom>
          <a:solidFill>
            <a:srgbClr val="1A8991"/>
          </a:solidFill>
          <a:ln>
            <a:solidFill>
              <a:srgbClr val="1A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34440" y="1234440"/>
            <a:ext cx="6492240" cy="960120"/>
          </a:xfrm>
          <a:prstGeom prst="roundRect">
            <a:avLst/>
          </a:prstGeom>
          <a:solidFill>
            <a:srgbClr val="E2F5F4"/>
          </a:solidFill>
          <a:ln>
            <a:solidFill>
              <a:srgbClr val="E2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1353312"/>
            <a:ext cx="1325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83756"/>
                </a:solidFill>
                <a:latin typeface="Aptos"/>
              </a:rPr>
              <a:t>CLAIM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344168"/>
            <a:ext cx="46634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232B34"/>
                </a:solidFill>
                <a:latin typeface="Aptos"/>
              </a:rPr>
              <a:t>I claim that when objects collide, ________.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2642616"/>
            <a:ext cx="475488" cy="475488"/>
          </a:xfrm>
          <a:prstGeom prst="ellipse">
            <a:avLst/>
          </a:prstGeom>
          <a:solidFill>
            <a:srgbClr val="1A8991"/>
          </a:solidFill>
          <a:ln>
            <a:solidFill>
              <a:srgbClr val="1A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34440" y="2532888"/>
            <a:ext cx="6492240" cy="960120"/>
          </a:xfrm>
          <a:prstGeom prst="roundRect">
            <a:avLst/>
          </a:prstGeom>
          <a:solidFill>
            <a:srgbClr val="E8F1FA"/>
          </a:solidFill>
          <a:ln>
            <a:solidFill>
              <a:srgbClr val="E8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63040" y="2651760"/>
            <a:ext cx="1325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83756"/>
                </a:solidFill>
                <a:latin typeface="Aptos"/>
              </a:rPr>
              <a:t>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642616"/>
            <a:ext cx="46634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232B34"/>
                </a:solidFill>
                <a:latin typeface="Aptos"/>
              </a:rPr>
              <a:t>In Trial ___, I observed ________.
Across our trials, ________.</a:t>
            </a:r>
          </a:p>
        </p:txBody>
      </p:sp>
      <p:sp>
        <p:nvSpPr>
          <p:cNvPr id="12" name="Oval 11"/>
          <p:cNvSpPr/>
          <p:nvPr/>
        </p:nvSpPr>
        <p:spPr>
          <a:xfrm>
            <a:off x="594360" y="3941063"/>
            <a:ext cx="475488" cy="475488"/>
          </a:xfrm>
          <a:prstGeom prst="ellipse">
            <a:avLst/>
          </a:prstGeom>
          <a:solidFill>
            <a:srgbClr val="1A8991"/>
          </a:solidFill>
          <a:ln>
            <a:solidFill>
              <a:srgbClr val="1A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34440" y="3831335"/>
            <a:ext cx="6492240" cy="960120"/>
          </a:xfrm>
          <a:prstGeom prst="roundRect">
            <a:avLst/>
          </a:prstGeom>
          <a:solidFill>
            <a:srgbClr val="E2F5F4"/>
          </a:solidFill>
          <a:ln>
            <a:solidFill>
              <a:srgbClr val="E2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63040" y="3950207"/>
            <a:ext cx="1325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83756"/>
                </a:solidFill>
                <a:latin typeface="Aptos"/>
              </a:rPr>
              <a:t>REASONING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941063"/>
            <a:ext cx="46634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232B34"/>
                </a:solidFill>
                <a:latin typeface="Aptos"/>
              </a:rPr>
              <a:t>This evidence supports my claim because ________.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28431" y="1234440"/>
            <a:ext cx="3566160" cy="1965960"/>
          </a:xfrm>
          <a:prstGeom prst="roundRect">
            <a:avLst/>
          </a:prstGeom>
          <a:solidFill>
            <a:srgbClr val="FFF7DD"/>
          </a:solidFill>
          <a:ln>
            <a:solidFill>
              <a:srgbClr val="FFF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1435608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83756"/>
                </a:solidFill>
                <a:latin typeface="Aptos"/>
              </a:rPr>
              <a:t>WORD BANK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1810512"/>
            <a:ext cx="288036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B34"/>
                </a:solidFill>
                <a:latin typeface="Aptos"/>
              </a:rPr>
              <a:t>collision • variable • trial
observation • trend • evidence
motion • moved • stayed still
faster • slower • sound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28431" y="3429000"/>
            <a:ext cx="3566160" cy="1965960"/>
          </a:xfrm>
          <a:prstGeom prst="roundRect">
            <a:avLst/>
          </a:prstGeom>
          <a:solidFill>
            <a:srgbClr val="F4F6F8"/>
          </a:solidFill>
          <a:ln>
            <a:solidFill>
              <a:srgbClr val="F4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3639312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83756"/>
                </a:solidFill>
                <a:latin typeface="Aptos"/>
              </a:rPr>
              <a:t>LIGHTER STARTERS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4005072"/>
            <a:ext cx="292608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32B34"/>
                </a:solidFill>
                <a:latin typeface="Aptos"/>
              </a:rPr>
              <a:t>I noticed ________.
My evidence is ________.
This shows ________ because ________.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413248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A8991"/>
                </a:solidFill>
                <a:latin typeface="Aptos"/>
              </a:rPr>
              <a:t>Partner move: Ask, “What did you observe that makes you think that?”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925312"/>
            <a:ext cx="7040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B34"/>
                </a:solidFill>
                <a:latin typeface="Aptos"/>
              </a:rPr>
              <a:t>My own reasoning: ________________________________________________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10528"/>
            <a:ext cx="5669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6E78"/>
                </a:solidFill>
                <a:latin typeface="Aptos"/>
              </a:rPr>
              <a:t/>
            </a:r>
            <a:r>
              <a:rPr sz="800">
                <a:solidFill>
                  <a:srgbClr val="646E78"/>
                </a:solidFill>
                <a:latin typeface="Aptos"/>
              </a:rPr>
              <a:t>ChatGPT-generated draft • Reviewed and adapted by the teacher before classroom use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84280" y="6473952"/>
            <a:ext cx="274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46E78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83756"/>
                </a:solidFill>
                <a:latin typeface="Aptos"/>
              </a:rPr>
              <a:t>How to Build an Evidence-Based Explanation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6E78"/>
                </a:solidFill>
                <a:latin typeface="Aptos"/>
              </a:rPr>
              <a:t>Model uses an unrelated example so the collision answer stays yours.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10972800" cy="914400"/>
          </a:xfrm>
          <a:prstGeom prst="roundRect">
            <a:avLst/>
          </a:prstGeom>
          <a:solidFill>
            <a:srgbClr val="E8F1FA"/>
          </a:solidFill>
          <a:ln>
            <a:solidFill>
              <a:srgbClr val="E8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36192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83756"/>
                </a:solidFill>
                <a:latin typeface="Aptos"/>
              </a:rPr>
              <a:t>UNRELATED TEST: Which paper towel absorbs more water?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87168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A8991"/>
                </a:solidFill>
                <a:latin typeface="Aptos"/>
              </a:rPr>
              <a:t>CLAIM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57400" y="2459736"/>
            <a:ext cx="8961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32B34"/>
                </a:solidFill>
                <a:latin typeface="Aptos"/>
              </a:rPr>
              <a:t>The thicker paper towel absorbed more water.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419856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A8991"/>
                </a:solidFill>
                <a:latin typeface="Aptos"/>
              </a:rPr>
              <a:t>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57400" y="3392424"/>
            <a:ext cx="8961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32B34"/>
                </a:solidFill>
                <a:latin typeface="Aptos"/>
              </a:rPr>
              <a:t>In three trials, the thicker towel absorbed more water than the thinner towel.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52544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A8991"/>
                </a:solidFill>
                <a:latin typeface="Aptos"/>
              </a:rPr>
              <a:t>REASONING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4325112"/>
            <a:ext cx="8961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32B34"/>
                </a:solidFill>
                <a:latin typeface="Aptos"/>
              </a:rPr>
              <a:t>The repeated trial results support the claim because the same pattern happened more than once.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623560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183756"/>
                </a:solidFill>
                <a:latin typeface="Aptos"/>
              </a:rPr>
              <a:t>Your turn: Use only what YOUR group actually observed. Do not invent a result.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5669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6E78"/>
                </a:solidFill>
                <a:latin typeface="Aptos"/>
              </a:rPr>
              <a:t/>
            </a:r>
            <a:r>
              <a:rPr sz="800">
                <a:solidFill>
                  <a:srgbClr val="646E78"/>
                </a:solidFill>
                <a:latin typeface="Aptos"/>
              </a:rPr>
              <a:t>ChatGPT-generated draft • Reviewed and adapted by the teacher before classroom use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84280" y="6473952"/>
            <a:ext cx="274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46E78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83756"/>
                </a:solidFill>
                <a:latin typeface="Aptos"/>
              </a:rPr>
              <a:t>Investigation Directions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6E78"/>
                </a:solidFill>
                <a:latin typeface="Aptos"/>
              </a:rPr>
              <a:t>One main action at a time. Keep the test fair.</a:t>
            </a:r>
          </a:p>
        </p:txBody>
      </p:sp>
      <p:sp>
        <p:nvSpPr>
          <p:cNvPr id="4" name="Oval 3"/>
          <p:cNvSpPr/>
          <p:nvPr/>
        </p:nvSpPr>
        <p:spPr>
          <a:xfrm>
            <a:off x="594360" y="1325880"/>
            <a:ext cx="438912" cy="438912"/>
          </a:xfrm>
          <a:prstGeom prst="ellipse">
            <a:avLst/>
          </a:prstGeom>
          <a:solidFill>
            <a:srgbClr val="1A8991"/>
          </a:solidFill>
          <a:ln>
            <a:solidFill>
              <a:srgbClr val="1A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261872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83756"/>
                </a:solidFill>
                <a:latin typeface="Aptos"/>
              </a:rPr>
              <a:t>CHOOSE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67128" y="1234440"/>
            <a:ext cx="37947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B34"/>
                </a:solidFill>
                <a:latin typeface="Aptos"/>
              </a:rPr>
              <a:t>one variable to change: marble size, track height, or release point.</a:t>
            </a:r>
          </a:p>
        </p:txBody>
      </p:sp>
      <p:sp>
        <p:nvSpPr>
          <p:cNvPr id="7" name="Oval 6"/>
          <p:cNvSpPr/>
          <p:nvPr/>
        </p:nvSpPr>
        <p:spPr>
          <a:xfrm>
            <a:off x="594360" y="2496312"/>
            <a:ext cx="438912" cy="438912"/>
          </a:xfrm>
          <a:prstGeom prst="ellipse">
            <a:avLst/>
          </a:prstGeom>
          <a:solidFill>
            <a:srgbClr val="1A8991"/>
          </a:solidFill>
          <a:ln>
            <a:solidFill>
              <a:srgbClr val="1A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432303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83756"/>
                </a:solidFill>
                <a:latin typeface="Aptos"/>
              </a:rPr>
              <a:t>KEEP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67128" y="2404872"/>
            <a:ext cx="37947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B34"/>
                </a:solidFill>
                <a:latin typeface="Aptos"/>
              </a:rPr>
              <a:t>the other factors the same so the investigation is fair.</a:t>
            </a:r>
          </a:p>
        </p:txBody>
      </p:sp>
      <p:sp>
        <p:nvSpPr>
          <p:cNvPr id="10" name="Oval 9"/>
          <p:cNvSpPr/>
          <p:nvPr/>
        </p:nvSpPr>
        <p:spPr>
          <a:xfrm>
            <a:off x="594360" y="3666744"/>
            <a:ext cx="438912" cy="438912"/>
          </a:xfrm>
          <a:prstGeom prst="ellipse">
            <a:avLst/>
          </a:prstGeom>
          <a:solidFill>
            <a:srgbClr val="1A8991"/>
          </a:solidFill>
          <a:ln>
            <a:solidFill>
              <a:srgbClr val="1A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602736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83756"/>
                </a:solidFill>
                <a:latin typeface="Aptos"/>
              </a:rPr>
              <a:t>WRITE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67128" y="3575304"/>
            <a:ext cx="37947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B34"/>
                </a:solidFill>
                <a:latin typeface="Aptos"/>
              </a:rPr>
              <a:t>clear steps another group could follow.</a:t>
            </a:r>
          </a:p>
        </p:txBody>
      </p:sp>
      <p:sp>
        <p:nvSpPr>
          <p:cNvPr id="13" name="Oval 12"/>
          <p:cNvSpPr/>
          <p:nvPr/>
        </p:nvSpPr>
        <p:spPr>
          <a:xfrm>
            <a:off x="594360" y="4837175"/>
            <a:ext cx="438912" cy="438912"/>
          </a:xfrm>
          <a:prstGeom prst="ellipse">
            <a:avLst/>
          </a:prstGeom>
          <a:solidFill>
            <a:srgbClr val="1A8991"/>
          </a:solidFill>
          <a:ln>
            <a:solidFill>
              <a:srgbClr val="1A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4773168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83756"/>
                </a:solidFill>
                <a:latin typeface="Aptos"/>
              </a:rPr>
              <a:t>PRACTICE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67128" y="4745736"/>
            <a:ext cx="37947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B34"/>
                </a:solidFill>
                <a:latin typeface="Aptos"/>
              </a:rPr>
              <a:t>releasing and lining up the marbles before Trial 1.</a:t>
            </a:r>
          </a:p>
        </p:txBody>
      </p:sp>
      <p:sp>
        <p:nvSpPr>
          <p:cNvPr id="16" name="Oval 15"/>
          <p:cNvSpPr/>
          <p:nvPr/>
        </p:nvSpPr>
        <p:spPr>
          <a:xfrm>
            <a:off x="6309360" y="1325880"/>
            <a:ext cx="438912" cy="438912"/>
          </a:xfrm>
          <a:prstGeom prst="ellipse">
            <a:avLst/>
          </a:prstGeom>
          <a:solidFill>
            <a:srgbClr val="1A8991"/>
          </a:solidFill>
          <a:ln>
            <a:solidFill>
              <a:srgbClr val="1A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1261872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83756"/>
                </a:solidFill>
                <a:latin typeface="Aptos"/>
              </a:rPr>
              <a:t>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82128" y="1234440"/>
            <a:ext cx="37947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B34"/>
                </a:solidFill>
                <a:latin typeface="Aptos"/>
              </a:rPr>
              <a:t>your setup at least 3 times.</a:t>
            </a:r>
          </a:p>
        </p:txBody>
      </p:sp>
      <p:sp>
        <p:nvSpPr>
          <p:cNvPr id="19" name="Oval 18"/>
          <p:cNvSpPr/>
          <p:nvPr/>
        </p:nvSpPr>
        <p:spPr>
          <a:xfrm>
            <a:off x="6309360" y="2496312"/>
            <a:ext cx="438912" cy="438912"/>
          </a:xfrm>
          <a:prstGeom prst="ellipse">
            <a:avLst/>
          </a:prstGeom>
          <a:solidFill>
            <a:srgbClr val="1A8991"/>
          </a:solidFill>
          <a:ln>
            <a:solidFill>
              <a:srgbClr val="1A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2432303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83756"/>
                </a:solidFill>
                <a:latin typeface="Aptos"/>
              </a:rPr>
              <a:t>RECORD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82128" y="2404872"/>
            <a:ext cx="37947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B34"/>
                </a:solidFill>
                <a:latin typeface="Aptos"/>
              </a:rPr>
              <a:t>what you actually see and hear in every trial.</a:t>
            </a:r>
          </a:p>
        </p:txBody>
      </p:sp>
      <p:sp>
        <p:nvSpPr>
          <p:cNvPr id="22" name="Oval 21"/>
          <p:cNvSpPr/>
          <p:nvPr/>
        </p:nvSpPr>
        <p:spPr>
          <a:xfrm>
            <a:off x="6309360" y="3666744"/>
            <a:ext cx="438912" cy="438912"/>
          </a:xfrm>
          <a:prstGeom prst="ellipse">
            <a:avLst/>
          </a:prstGeom>
          <a:solidFill>
            <a:srgbClr val="1A8991"/>
          </a:solidFill>
          <a:ln>
            <a:solidFill>
              <a:srgbClr val="1A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3602736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83756"/>
                </a:solidFill>
                <a:latin typeface="Aptos"/>
              </a:rPr>
              <a:t>LOOK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82128" y="3575304"/>
            <a:ext cx="37947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B34"/>
                </a:solidFill>
                <a:latin typeface="Aptos"/>
              </a:rPr>
              <a:t>for a trend — a pattern across your results.</a:t>
            </a:r>
          </a:p>
        </p:txBody>
      </p:sp>
      <p:sp>
        <p:nvSpPr>
          <p:cNvPr id="25" name="Oval 24"/>
          <p:cNvSpPr/>
          <p:nvPr/>
        </p:nvSpPr>
        <p:spPr>
          <a:xfrm>
            <a:off x="6309360" y="4837175"/>
            <a:ext cx="438912" cy="438912"/>
          </a:xfrm>
          <a:prstGeom prst="ellipse">
            <a:avLst/>
          </a:prstGeom>
          <a:solidFill>
            <a:srgbClr val="1A8991"/>
          </a:solidFill>
          <a:ln>
            <a:solidFill>
              <a:srgbClr val="1A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4773168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83756"/>
                </a:solidFill>
                <a:latin typeface="Aptos"/>
              </a:rPr>
              <a:t>EXPLAIN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82128" y="4745736"/>
            <a:ext cx="37947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B34"/>
                </a:solidFill>
                <a:latin typeface="Aptos"/>
              </a:rPr>
              <a:t>your claim with specific evidence and reasoning.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5870448"/>
            <a:ext cx="10561320" cy="420624"/>
          </a:xfrm>
          <a:prstGeom prst="roundRect">
            <a:avLst/>
          </a:prstGeom>
          <a:solidFill>
            <a:srgbClr val="FFF7DD"/>
          </a:solidFill>
          <a:ln>
            <a:solidFill>
              <a:srgbClr val="FFF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1560" y="5980176"/>
            <a:ext cx="10058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32B34"/>
                </a:solidFill>
                <a:latin typeface="Aptos"/>
              </a:rPr>
              <a:t>SELF-CHECK: □ one variable  □ 3+ trials  □ observations recorded  □ trend checked  □ claim + evidence + reasoning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5669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6E78"/>
                </a:solidFill>
                <a:latin typeface="Aptos"/>
              </a:rPr>
              <a:t/>
            </a:r>
            <a:r>
              <a:rPr sz="800">
                <a:solidFill>
                  <a:srgbClr val="646E78"/>
                </a:solidFill>
                <a:latin typeface="Aptos"/>
              </a:rPr>
              <a:t>ChatGPT-generated draft • Reviewed and adapted by the teacher before classroom use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84280" y="6473952"/>
            <a:ext cx="274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46E78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83756"/>
                </a:solidFill>
                <a:latin typeface="Aptos"/>
              </a:rPr>
              <a:t>Three Ways to Show What You Know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6E78"/>
                </a:solidFill>
                <a:latin typeface="Aptos"/>
              </a:rPr>
              <a:t>Same science thinking. Different ways to communicate it.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3520440" cy="1874519"/>
          </a:xfrm>
          <a:prstGeom prst="roundRect">
            <a:avLst/>
          </a:prstGeom>
          <a:solidFill>
            <a:srgbClr val="E2F5F4"/>
          </a:solidFill>
          <a:ln>
            <a:solidFill>
              <a:srgbClr val="E2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44752"/>
            <a:ext cx="3063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83756"/>
                </a:solidFill>
                <a:latin typeface="Aptos"/>
              </a:rPr>
              <a:t>WRITE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56231"/>
            <a:ext cx="2971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232B34"/>
                </a:solidFill>
                <a:latin typeface="Aptos"/>
              </a:rPr>
              <a:t>Write a short claim-evidence-reasoning response.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2971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46E78"/>
                </a:solidFill>
                <a:latin typeface="Aptos"/>
              </a:rPr>
              <a:t>Support: Word bank + sentence frames + sketch first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16552" y="1234440"/>
            <a:ext cx="3520440" cy="1874519"/>
          </a:xfrm>
          <a:prstGeom prst="roundRect">
            <a:avLst/>
          </a:prstGeom>
          <a:solidFill>
            <a:srgbClr val="E8F1FA"/>
          </a:solidFill>
          <a:ln>
            <a:solidFill>
              <a:srgbClr val="E8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9432" y="1444752"/>
            <a:ext cx="3063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83756"/>
                </a:solidFill>
                <a:latin typeface="Aptos"/>
              </a:rPr>
              <a:t>SPEAK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5152" y="1856231"/>
            <a:ext cx="2971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232B34"/>
                </a:solidFill>
                <a:latin typeface="Aptos"/>
              </a:rPr>
              <a:t>Give an oral explanation to the teacher/partner or record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152" y="2514600"/>
            <a:ext cx="2971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46E78"/>
                </a:solidFill>
                <a:latin typeface="Aptos"/>
              </a:rPr>
              <a:t>Support: Talk mat + word bank + rehearsal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84464" y="1234440"/>
            <a:ext cx="3520440" cy="1874519"/>
          </a:xfrm>
          <a:prstGeom prst="roundRect">
            <a:avLst/>
          </a:prstGeom>
          <a:solidFill>
            <a:srgbClr val="FFF7DD"/>
          </a:solidFill>
          <a:ln>
            <a:solidFill>
              <a:srgbClr val="FFF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67344" y="1444752"/>
            <a:ext cx="3063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83756"/>
                </a:solidFill>
                <a:latin typeface="Aptos"/>
              </a:rPr>
              <a:t>DRAW + EXPLAIN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13064" y="1856231"/>
            <a:ext cx="2971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232B34"/>
                </a:solidFill>
                <a:latin typeface="Aptos"/>
              </a:rPr>
              <a:t>Annotate a collision sketch/data display, then add a spoken or written explanation.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13064" y="2514600"/>
            <a:ext cx="2971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46E78"/>
                </a:solidFill>
                <a:latin typeface="Aptos"/>
              </a:rPr>
              <a:t>Support: Labels + arrows + word bank + sentence starters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45643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A8991"/>
                </a:solidFill>
                <a:latin typeface="Aptos"/>
              </a:rPr>
              <a:t>SHARED SUCCESS CRITERIA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858768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232B34"/>
                </a:solidFill>
                <a:latin typeface="Aptos"/>
              </a:rPr>
              <a:t>□ I answer the testable question.   □ I make a claim.   □ I use specific evidence from my trials.
□ I explain how the evidence supports my claim.   □ I use science words accurately.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5074920"/>
            <a:ext cx="10652760" cy="731520"/>
          </a:xfrm>
          <a:prstGeom prst="roundRect">
            <a:avLst/>
          </a:prstGeom>
          <a:solidFill>
            <a:srgbClr val="F4F6F8"/>
          </a:solidFill>
          <a:ln>
            <a:solidFill>
              <a:srgbClr val="F4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" y="5257800"/>
            <a:ext cx="10195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83756"/>
                </a:solidFill>
                <a:latin typeface="Aptos"/>
              </a:rPr>
              <a:t>Language objective note: If students are required to demonstrate complete English sentences, the visual option still needs a brief oral or written explanation. Planning in a home language may be used before sharing.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0528"/>
            <a:ext cx="5669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6E78"/>
                </a:solidFill>
                <a:latin typeface="Aptos"/>
              </a:rPr>
              <a:t/>
            </a:r>
            <a:r>
              <a:rPr sz="800">
                <a:solidFill>
                  <a:srgbClr val="646E78"/>
                </a:solidFill>
                <a:latin typeface="Aptos"/>
              </a:rPr>
              <a:t>ChatGPT-generated draft • Reviewed and adapted by the teacher before classroom use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84280" y="6473952"/>
            <a:ext cx="274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46E78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83756"/>
                </a:solidFill>
                <a:latin typeface="Aptos"/>
              </a:rPr>
              <a:t>Teacher Review 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6E78"/>
                </a:solidFill>
                <a:latin typeface="Aptos"/>
              </a:rPr>
              <a:t>Planning notes — not student-facing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A8991"/>
                </a:solidFill>
                <a:latin typeface="Aptos"/>
              </a:rPr>
              <a:t>Why these scaffolds?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232B34"/>
                </a:solidFill>
                <a:latin typeface="Aptos"/>
              </a:rPr>
              <a:t>Students already identify observations; these supports help them move from noticing → academic vocabulary → complete evidence-based explanation without lowering the investigation demand.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8716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A8991"/>
                </a:solidFill>
                <a:latin typeface="Aptos"/>
              </a:rPr>
              <a:t>Fade the frames when…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232B34"/>
                </a:solidFill>
                <a:latin typeface="Aptos"/>
              </a:rPr>
              <a:t>students can independently name the claim, select relevant evidence, and connect it with reasoning. Move from full frames → open starters → no frame, while keeping the same success criteria.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794760"/>
            <a:ext cx="2514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83756"/>
                </a:solidFill>
                <a:latin typeface="Aptos"/>
              </a:rPr>
              <a:t>SOURCE / CONTENT ACCURACY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3776472"/>
            <a:ext cx="83210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32B34"/>
                </a:solidFill>
                <a:latin typeface="Aptos"/>
              </a:rPr>
              <a:t>Does every direction match the guide: one variable, 3+ trials, observations, trends, and evidence-supported claims?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544568"/>
            <a:ext cx="2514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83756"/>
                </a:solidFill>
                <a:latin typeface="Aptos"/>
              </a:rPr>
              <a:t>PRESERVED THINKING DEMAND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4526280"/>
            <a:ext cx="83210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32B34"/>
                </a:solidFill>
                <a:latin typeface="Aptos"/>
              </a:rPr>
              <a:t>Are students still designing, analyzing, and explaining — rather than only filling blanks or copying vocabulary?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294376"/>
            <a:ext cx="2514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83756"/>
                </a:solidFill>
                <a:latin typeface="Aptos"/>
              </a:rPr>
              <a:t>LANGUAGE FIT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5276088"/>
            <a:ext cx="83210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32B34"/>
                </a:solidFill>
                <a:latin typeface="Aptos"/>
              </a:rPr>
              <a:t>Are the words, sentence chunks, and visual supports enough for this class without over-scaffolding? Can students rehearse before responding?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053328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6E78"/>
                </a:solidFill>
                <a:latin typeface="Aptos"/>
              </a:rPr>
              <a:t>Teacher assumption to review: the guide does not give a separate safety rule beyond careful setup/alignment and practice before Trial 1; add your classroom marble/track safety expectations before use.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0528"/>
            <a:ext cx="5669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6E78"/>
                </a:solidFill>
                <a:latin typeface="Aptos"/>
              </a:rPr>
              <a:t/>
            </a:r>
            <a:r>
              <a:rPr sz="800">
                <a:solidFill>
                  <a:srgbClr val="646E78"/>
                </a:solidFill>
                <a:latin typeface="Aptos"/>
              </a:rPr>
              <a:t>ChatGPT-generated draft • Reviewed and adapted by the teacher before classroom use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84280" y="6473952"/>
            <a:ext cx="274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46E78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